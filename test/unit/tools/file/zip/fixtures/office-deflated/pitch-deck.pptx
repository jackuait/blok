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
<Relationship Id="rId9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640080" y="1051560"/>
            <a:ext cx="548640" cy="118872"/>
          </a:xfrm>
          <a:prstGeom prst="rect">
            <a:avLst/>
          </a:prstGeom>
          <a:solidFill>
            <a:srgbClr val="E25C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xt"/>
          <p:cNvSpPr txBox="1"/>
          <p:nvPr/>
        </p:nvSpPr>
        <p:spPr>
          <a:xfrm>
            <a:off x="640080" y="1371600"/>
            <a:ext cx="786384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6600" b="1">
                <a:solidFill>
                  <a:srgbClr val="1A1A1A"/>
                </a:solidFill>
              </a:rPr>
              <a:t>Blok</a:t>
            </a:r>
          </a:p>
        </p:txBody>
      </p:sp>
      <p:sp>
        <p:nvSpPr>
          <p:cNvPr id="4" name="Txt"/>
          <p:cNvSpPr txBox="1"/>
          <p:nvPr/>
        </p:nvSpPr>
        <p:spPr>
          <a:xfrm>
            <a:off x="640080" y="2834640"/>
            <a:ext cx="786384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600">
                <a:solidFill>
                  <a:srgbClr val="6B6B6B"/>
                </a:solidFill>
              </a:rPr>
              <a:t>The block-based editor for modern documents</a:t>
            </a:r>
          </a:p>
        </p:txBody>
      </p:sp>
      <p:sp>
        <p:nvSpPr>
          <p:cNvPr id="5" name="Txt"/>
          <p:cNvSpPr txBox="1"/>
          <p:nvPr/>
        </p:nvSpPr>
        <p:spPr>
          <a:xfrm>
            <a:off x="640080" y="580644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PRODUCT OVERVIEW · 2026</a:t>
            </a:r>
          </a:p>
        </p:txBody>
      </p:sp>
    </p:spTree>
  </p:cSld>
  <p:clrMapOvr>
    <a:override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THE PROBLEM</a:t>
            </a:r>
          </a:p>
        </p:txBody>
      </p:sp>
      <p:sp>
        <p:nvSpPr>
          <p:cNvPr id="7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Rich text shouldn’t trap your content</a:t>
            </a:r>
          </a:p>
        </p:txBody>
      </p:sp>
      <p:sp>
        <p:nvSpPr>
          <p:cNvPr id="8" name="Txt"/>
          <p:cNvSpPr txBox="1"/>
          <p:nvPr/>
        </p:nvSpPr>
        <p:spPr>
          <a:xfrm>
            <a:off x="640080" y="3200400"/>
            <a:ext cx="704088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200">
                <a:solidFill>
                  <a:srgbClr val="6B6B6B"/>
                </a:solidFill>
              </a:rPr>
              <a:t>Most editors serialize to tangled HTML. Move that content somewhere new and the structure — and half the formatting — breaks on the way out.</a:t>
            </a:r>
          </a:p>
        </p:txBody>
      </p:sp>
    </p:spTree>
  </p:cSld>
  <p:clrMapOvr>
    <a:override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THE IDEA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400" b="1">
                <a:solidFill>
                  <a:srgbClr val="1A1A1A"/>
                </a:solidFill>
              </a:rPr>
              <a:t>Everything is a block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paragraph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table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database row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page is just a block with children</a:t>
            </a:r>
          </a:p>
        </p:txBody>
      </p:sp>
    </p:spTree>
  </p:cSld>
  <p:clrMapOvr>
    <a:override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WHY TEAMS CHOOSE BLOK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Built for developers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Headless and framework-agnostic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Clean, structured JSON — never HTML soup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Typed plugin API for custom tools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Real-time collaboration powered by Yjs</a:t>
            </a:r>
          </a:p>
        </p:txBody>
      </p:sp>
    </p:spTree>
  </p:cSld>
  <p:clrMapOvr>
    <a:override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BY THE NUMBERS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Small core, serious range</a:t>
            </a:r>
          </a:p>
        </p:txBody>
      </p:sp>
      <p:sp>
        <p:nvSpPr>
          <p:cNvPr id="17" name="Txt"/>
          <p:cNvSpPr txBox="1"/>
          <p:nvPr/>
        </p:nvSpPr>
        <p:spPr>
          <a:xfrm>
            <a:off x="64008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15+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block types out of the box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333756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100%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portable JSON, zero HTML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603504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0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frameworks you’re locked into</a:t>
            </a:r>
          </a:p>
        </p:txBody>
      </p:sp>
    </p:spTree>
  </p:cSld>
  <p:clrMapOvr>
    <a:override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WHAT’S NEXT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Roadmap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Inline office previews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Database &amp; kanban views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Comments &amp; suggestions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AI-assisted authoring</a:t>
            </a:r>
          </a:p>
        </p:txBody>
      </p:sp>
    </p:spTree>
  </p:cSld>
  <p:clrMapOvr>
    <a:override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25C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"/>
          <p:cNvSpPr/>
          <p:nvPr/>
        </p:nvSpPr>
        <p:spPr>
          <a:xfrm>
            <a:off x="640080" y="2148840"/>
            <a:ext cx="54864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xt"/>
          <p:cNvSpPr txBox="1"/>
          <p:nvPr/>
        </p:nvSpPr>
        <p:spPr>
          <a:xfrm>
            <a:off x="640080" y="2468880"/>
            <a:ext cx="7863840" cy="1280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600" b="1">
                <a:solidFill>
                  <a:srgbClr val="FFFFFF"/>
                </a:solidFill>
              </a:rPr>
              <a:t>Start building with Blok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200">
                <a:solidFill>
                  <a:srgbClr val="FFFFFF"/>
                </a:solidFill>
              </a:rPr>
              <a:t>github.com/jackuait/blok</a:t>
            </a:r>
          </a:p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