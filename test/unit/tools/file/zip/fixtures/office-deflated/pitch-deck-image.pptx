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
<Relationship Id="rId9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/>
    </p:spTree>
  </p:cSld>
  <p:clrMapOvr>
    <a:override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Img1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"/>
          <p:cNvSpPr/>
          <p:nvPr/>
        </p:nvSpPr>
        <p:spPr>
          <a:xfrm>
            <a:off x="640080" y="1051560"/>
            <a:ext cx="548640" cy="118872"/>
          </a:xfrm>
          <a:prstGeom prst="rect">
            <a:avLst/>
          </a:prstGeom>
          <a:solidFill>
            <a:srgbClr val="E25C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xt"/>
          <p:cNvSpPr txBox="1"/>
          <p:nvPr/>
        </p:nvSpPr>
        <p:spPr>
          <a:xfrm>
            <a:off x="640080" y="1371600"/>
            <a:ext cx="7863840" cy="15544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6600" b="1">
                <a:solidFill>
                  <a:srgbClr val="1A1A1A"/>
                </a:solidFill>
              </a:rPr>
              <a:t>Blok</a:t>
            </a:r>
          </a:p>
        </p:txBody>
      </p:sp>
      <p:sp>
        <p:nvSpPr>
          <p:cNvPr id="4" name="Txt"/>
          <p:cNvSpPr txBox="1"/>
          <p:nvPr/>
        </p:nvSpPr>
        <p:spPr>
          <a:xfrm>
            <a:off x="640080" y="2834640"/>
            <a:ext cx="786384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600">
                <a:solidFill>
                  <a:srgbClr val="6B6B6B"/>
                </a:solidFill>
              </a:rPr>
              <a:t>The block-based editor for modern documents</a:t>
            </a:r>
          </a:p>
        </p:txBody>
      </p:sp>
      <p:sp>
        <p:nvSpPr>
          <p:cNvPr id="5" name="Txt"/>
          <p:cNvSpPr txBox="1"/>
          <p:nvPr/>
        </p:nvSpPr>
        <p:spPr>
          <a:xfrm>
            <a:off x="640080" y="5806440"/>
            <a:ext cx="7863840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1" spc="300">
                <a:solidFill>
                  <a:srgbClr val="E25C4B"/>
                </a:solidFill>
              </a:rPr>
              <a:t>PRODUCT OVERVIEW · 2026</a:t>
            </a:r>
          </a:p>
        </p:txBody>
      </p:sp>
      <p:pic>
        <p:nvPicPr>
          <p:cNvPr id="90" name="Picture 1"/>
          <p:cNvPicPr/>
          <p:nvPr/>
        </p:nvPicPr>
        <p:blipFill>
          <a:blip r:embed="rIdImg1"/>
          <a:stretch>
            <a:fillRect/>
          </a:stretch>
        </p:blipFill>
        <p:spPr>
          <a:xfrm>
            <a:off x="640080" y="2000000"/>
            <a:ext cx="914400" cy="914400"/>
          </a:xfrm>
          <a:prstGeom prst="rect">
            <a:avLst/>
          </a:prstGeom>
        </p:spPr>
      </p:pic>
    </p:spTree>
  </p:cSld>
  <p:clrMapOvr>
    <a:override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xt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1" spc="300">
                <a:solidFill>
                  <a:srgbClr val="E25C4B"/>
                </a:solidFill>
              </a:rPr>
              <a:t>THE PROBLEM</a:t>
            </a:r>
          </a:p>
        </p:txBody>
      </p:sp>
      <p:sp>
        <p:nvSpPr>
          <p:cNvPr id="7" name="Txt"/>
          <p:cNvSpPr txBox="1"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4000" b="1">
                <a:solidFill>
                  <a:srgbClr val="1A1A1A"/>
                </a:solidFill>
              </a:rPr>
              <a:t>Rich text shouldn’t trap your content</a:t>
            </a:r>
          </a:p>
        </p:txBody>
      </p:sp>
      <p:sp>
        <p:nvSpPr>
          <p:cNvPr id="8" name="Txt"/>
          <p:cNvSpPr txBox="1"/>
          <p:nvPr/>
        </p:nvSpPr>
        <p:spPr>
          <a:xfrm>
            <a:off x="640080" y="3200400"/>
            <a:ext cx="704088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200">
                <a:solidFill>
                  <a:srgbClr val="6B6B6B"/>
                </a:solidFill>
              </a:rPr>
              <a:t>Most editors serialize to tangled HTML. Move that content somewhere new and the structure — and half the formatting — breaks on the way out.</a:t>
            </a:r>
          </a:p>
        </p:txBody>
      </p:sp>
    </p:spTree>
  </p:cSld>
  <p:clrMapOvr>
    <a:override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xt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1" spc="300">
                <a:solidFill>
                  <a:srgbClr val="E25C4B"/>
                </a:solidFill>
              </a:rPr>
              <a:t>THE IDEA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4400" b="1">
                <a:solidFill>
                  <a:srgbClr val="1A1A1A"/>
                </a:solidFill>
              </a:rPr>
              <a:t>Everything is a block</a:t>
            </a:r>
          </a:p>
        </p:txBody>
      </p:sp>
      <p:sp>
        <p:nvSpPr>
          <p:cNvPr id="11" name="Txt"/>
          <p:cNvSpPr txBox="1"/>
          <p:nvPr/>
        </p:nvSpPr>
        <p:spPr>
          <a:xfrm>
            <a:off x="640080" y="3017520"/>
            <a:ext cx="7863840" cy="329184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A paragraph is a block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A table is a block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A database row is a block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A page is just a block with children</a:t>
            </a:r>
          </a:p>
        </p:txBody>
      </p:sp>
    </p:spTree>
  </p:cSld>
  <p:clrMapOvr>
    <a:override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Txt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1" spc="300">
                <a:solidFill>
                  <a:srgbClr val="E25C4B"/>
                </a:solidFill>
              </a:rPr>
              <a:t>WHY TEAMS CHOOSE BLOK</a:t>
            </a:r>
          </a:p>
        </p:txBody>
      </p:sp>
      <p:sp>
        <p:nvSpPr>
          <p:cNvPr id="13" name="Txt"/>
          <p:cNvSpPr txBox="1"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4000" b="1">
                <a:solidFill>
                  <a:srgbClr val="1A1A1A"/>
                </a:solidFill>
              </a:rPr>
              <a:t>Built for developers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640080" y="3017520"/>
            <a:ext cx="7863840" cy="329184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Headless and framework-agnostic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Clean, structured JSON — never HTML soup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Typed plugin API for custom tools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Real-time collaboration powered by Yjs</a:t>
            </a:r>
          </a:p>
        </p:txBody>
      </p:sp>
    </p:spTree>
  </p:cSld>
  <p:clrMapOvr>
    <a:override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Txt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1" spc="300">
                <a:solidFill>
                  <a:srgbClr val="E25C4B"/>
                </a:solidFill>
              </a:rPr>
              <a:t>BY THE NUMBERS</a:t>
            </a:r>
          </a:p>
        </p:txBody>
      </p:sp>
      <p:sp>
        <p:nvSpPr>
          <p:cNvPr id="16" name="Txt"/>
          <p:cNvSpPr txBox="1"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4000" b="1">
                <a:solidFill>
                  <a:srgbClr val="1A1A1A"/>
                </a:solidFill>
              </a:rPr>
              <a:t>Small core, serious range</a:t>
            </a:r>
          </a:p>
        </p:txBody>
      </p:sp>
      <p:sp>
        <p:nvSpPr>
          <p:cNvPr id="17" name="Txt"/>
          <p:cNvSpPr txBox="1"/>
          <p:nvPr/>
        </p:nvSpPr>
        <p:spPr>
          <a:xfrm>
            <a:off x="640080" y="2834640"/>
            <a:ext cx="2468880" cy="2011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5400" b="1">
                <a:solidFill>
                  <a:srgbClr val="E25C4B"/>
                </a:solidFill>
              </a:rPr>
              <a:t>15+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>
                <a:solidFill>
                  <a:srgbClr val="6B6B6B"/>
                </a:solidFill>
              </a:rPr>
              <a:t>block types out of the box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3337560" y="2834640"/>
            <a:ext cx="2468880" cy="2011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5400" b="1">
                <a:solidFill>
                  <a:srgbClr val="E25C4B"/>
                </a:solidFill>
              </a:rPr>
              <a:t>100%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>
                <a:solidFill>
                  <a:srgbClr val="6B6B6B"/>
                </a:solidFill>
              </a:rPr>
              <a:t>portable JSON, zero HTML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6035040" y="2834640"/>
            <a:ext cx="2468880" cy="2011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5400" b="1">
                <a:solidFill>
                  <a:srgbClr val="E25C4B"/>
                </a:solidFill>
              </a:rPr>
              <a:t>0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>
                <a:solidFill>
                  <a:srgbClr val="6B6B6B"/>
                </a:solidFill>
              </a:rPr>
              <a:t>frameworks you’re locked into</a:t>
            </a:r>
          </a:p>
        </p:txBody>
      </p:sp>
    </p:spTree>
  </p:cSld>
  <p:clrMapOvr>
    <a:override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Txt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1" spc="300">
                <a:solidFill>
                  <a:srgbClr val="E25C4B"/>
                </a:solidFill>
              </a:rPr>
              <a:t>WHAT’S NEXT</a:t>
            </a:r>
          </a:p>
        </p:txBody>
      </p:sp>
      <p:sp>
        <p:nvSpPr>
          <p:cNvPr id="21" name="Txt"/>
          <p:cNvSpPr txBox="1"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4000" b="1">
                <a:solidFill>
                  <a:srgbClr val="1A1A1A"/>
                </a:solidFill>
              </a:rPr>
              <a:t>Roadmap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640080" y="3017520"/>
            <a:ext cx="7863840" cy="329184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Inline office previews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Database &amp; kanban views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Comments &amp; suggestions</a:t>
            </a:r>
          </a:p>
          <a:p>
            <a:pPr marL="342900" indent="-342900" algn="l">
              <a:spcAft>
                <a:spcPts val="900"/>
              </a:spcAft>
              <a:buClr>
                <a:srgbClr val="E25C4B"/>
              </a:buClr>
              <a:buFont typeface="Arial"/>
              <a:buChar char="•"/>
            </a:pPr>
            <a:r>
              <a:rPr lang="en-US" sz="2200">
                <a:solidFill>
                  <a:srgbClr val="1A1A1A"/>
                </a:solidFill>
              </a:rPr>
              <a:t>AI-assisted authoring</a:t>
            </a:r>
          </a:p>
        </p:txBody>
      </p:sp>
    </p:spTree>
  </p:cSld>
  <p:clrMapOvr>
    <a:override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25C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"/>
          <p:cNvSpPr/>
          <p:nvPr/>
        </p:nvSpPr>
        <p:spPr>
          <a:xfrm>
            <a:off x="640080" y="2148840"/>
            <a:ext cx="54864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xt"/>
          <p:cNvSpPr txBox="1"/>
          <p:nvPr/>
        </p:nvSpPr>
        <p:spPr>
          <a:xfrm>
            <a:off x="640080" y="2468880"/>
            <a:ext cx="7863840" cy="12801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4600" b="1">
                <a:solidFill>
                  <a:srgbClr val="FFFFFF"/>
                </a:solidFill>
              </a:rPr>
              <a:t>Start building with Blok</a:t>
            </a:r>
          </a:p>
        </p:txBody>
      </p:sp>
      <p:sp>
        <p:nvSpPr>
          <p:cNvPr id="26" name="Txt"/>
          <p:cNvSpPr txBox="1"/>
          <p:nvPr/>
        </p:nvSpPr>
        <p:spPr>
          <a:xfrm>
            <a:off x="640080" y="3794760"/>
            <a:ext cx="786384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200">
                <a:solidFill>
                  <a:srgbClr val="FFFFFF"/>
                </a:solidFill>
              </a:rPr>
              <a:t>github.com/jackuait/blok</a:t>
            </a:r>
          </a:p>
        </p:txBody>
      </p:sp>
    </p:spTree>
  </p:cSld>
  <p:clrMapOvr>
    <a:override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